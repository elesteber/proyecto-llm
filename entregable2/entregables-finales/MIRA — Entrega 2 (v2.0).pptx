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  <p:embeddedFont>
      <p:font typeface="Space Grotesk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0489AF-0DCD-4CC1-88C1-841C1C02BF15}">
  <a:tblStyle styleId="{7E0489AF-0DCD-4CC1-88C1-841C1C02BF1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DMSans-regular.fntdata"/><Relationship Id="rId20" Type="http://schemas.openxmlformats.org/officeDocument/2006/relationships/font" Target="fonts/DMSans-bold.fntdata"/><Relationship Id="rId21" Type="http://schemas.openxmlformats.org/officeDocument/2006/relationships/font" Target="fonts/DMSans-italic.fntdata"/><Relationship Id="rId22" Type="http://schemas.openxmlformats.org/officeDocument/2006/relationships/font" Target="fonts/DMSans-boldItalic.fntdata"/><Relationship Id="rId23" Type="http://schemas.openxmlformats.org/officeDocument/2006/relationships/font" Target="fonts/JetBrainsMono-regular.fntdata"/><Relationship Id="rId24" Type="http://schemas.openxmlformats.org/officeDocument/2006/relationships/font" Target="fonts/JetBrainsMono-bold.fntdata"/><Relationship Id="rId25" Type="http://schemas.openxmlformats.org/officeDocument/2006/relationships/font" Target="fonts/JetBrainsMono-italic.fntdata"/><Relationship Id="rId26" Type="http://schemas.openxmlformats.org/officeDocument/2006/relationships/font" Target="fonts/JetBrainsMono-boldItalic.fntdata"/><Relationship Id="rId27" Type="http://schemas.openxmlformats.org/officeDocument/2006/relationships/font" Target="fonts/SpaceGrotesk-regular.fntdata"/><Relationship Id="rId28" Type="http://schemas.openxmlformats.org/officeDocument/2006/relationships/font" Target="fonts/SpaceGrotes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996558" y="2085975"/>
            <a:ext cx="4585841" cy="2743200"/>
          </a:xfrm>
          <a:prstGeom prst="roundRect">
            <a:avLst>
              <a:gd fmla="val 416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09600" y="4365277"/>
            <a:ext cx="685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533400"/>
            <a:ext cx="33218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DPRIME SpA · TAG v2.0 · GRUPO 4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096375" y="533400"/>
            <a:ext cx="3095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GitHub Spec Kit + Antigravity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6153150"/>
            <a:ext cx="4762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Estructura: 5 Bloques Cronometrados (15 min total)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705850" y="6153150"/>
            <a:ext cx="34861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Foco Funcional: Par Conectado F5 → F4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1864072"/>
            <a:ext cx="731694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ENTREGA 2 — INGENIERÍA DE SOFTWARE GUIADA POR ESPECIFICACIONES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" y="2178397"/>
            <a:ext cx="6246249" cy="121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MIRA — Entrega 2 (</a:t>
            </a:r>
            <a:r>
              <a:rPr b="1" i="0" lang="en-US" sz="3915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v2.0</a:t>
            </a:r>
            <a:r>
              <a:rPr b="1" i="0" lang="en-US" sz="43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09600" y="3584227"/>
            <a:ext cx="594880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Plataforma de Inteligencia Multimodal para Decisiones Empresariales (DPRIME SpA)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09600" y="4593877"/>
            <a:ext cx="59488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Método: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Spec-Driven Development (SDD) con GitHub Spec Kit sobre Antigravity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263258" y="2352675"/>
            <a:ext cx="492874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Equipo Responsable — Grupo 4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263258" y="2790825"/>
            <a:ext cx="41476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Rodrigo Guerrero: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Backend (Node.js/TS) y Cliente (E2)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263258" y="3381375"/>
            <a:ext cx="49287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Jorge Alvarez: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Frontend / UI (React/Vite)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263258" y="3743325"/>
            <a:ext cx="492874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Lester González: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QA, Pruebas y Custodia SDD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7263258" y="4105275"/>
            <a:ext cx="41476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Angel Salgado:</a:t>
            </a:r>
            <a:r>
              <a:rPr b="0" i="0" lang="en-US" sz="135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Informe, Trazabilidad y Bitácora DEC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6730305" y="2505075"/>
            <a:ext cx="4852094" cy="2914650"/>
          </a:xfrm>
          <a:prstGeom prst="roundRect">
            <a:avLst>
              <a:gd fmla="val 3921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0039350" y="419100"/>
            <a:ext cx="1928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DEC-E2-07 · DEC-10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09600" y="428625"/>
            <a:ext cx="8167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1 · CONTEXTO, FUNCIONALIDADES Y MÉTODO (2 MIN)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09600" y="657225"/>
            <a:ext cx="857607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Contexto del Proyecto y Reglas de Juego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09600" y="2847975"/>
            <a:ext cx="753336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Tres Insumos Base (</a:t>
            </a:r>
            <a:r>
              <a:rPr b="1" i="0" lang="en-US" sz="1485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DEC-E2-07</a:t>
            </a:r>
            <a:r>
              <a:rPr b="1" i="0" lang="en-US" sz="165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42950" y="3276600"/>
            <a:ext cx="95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8200" y="3305175"/>
            <a:ext cx="560635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Descripción de MIRA: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Contexto y especificación formal del sistema DPRIME SpA.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95325" y="3924300"/>
            <a:ext cx="1428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38200" y="3952875"/>
            <a:ext cx="560635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Retroalimentación Entrega 1: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1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"Todo bien, solo detalles en la presentación"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(en bitácora; sin cambio de requisitos).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95325" y="4572000"/>
            <a:ext cx="1428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8200" y="4600575"/>
            <a:ext cx="560635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Análisis Entrega 1: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Artefactos heredados de fases 1 a 6 (40 PF, 12 PX y casos </a:t>
            </a:r>
            <a:r>
              <a:rPr b="0" i="0" lang="en-US" sz="1282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UC-01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82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UC-02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82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UC-03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149405" y="2809875"/>
            <a:ext cx="433804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Foco de Marcha Blanca (</a:t>
            </a:r>
            <a:r>
              <a:rPr b="1" i="0" lang="en-US" sz="148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DEC-10</a:t>
            </a: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168455" y="321945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225605" y="3248025"/>
            <a:ext cx="41472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Plan Rector: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Rige MIRA §5.2 por sobre presión comercial de 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ENT1 [00:11:05]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168455" y="381000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225605" y="3838575"/>
            <a:ext cx="41472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Gestión de Riesgo: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Presión comercial documentada bajo riesgo 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R-11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168455" y="440055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225605" y="4429125"/>
            <a:ext cx="414724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Proceso Piloto: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Reembolso de gastos médicos en aseguradora (mayor volumen y menor riesgo unitario).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609600" y="5219700"/>
            <a:ext cx="10972800" cy="1219200"/>
          </a:xfrm>
          <a:prstGeom prst="roundRect">
            <a:avLst>
              <a:gd fmla="val 9375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9600" y="1562100"/>
            <a:ext cx="4648200" cy="2200275"/>
          </a:xfrm>
          <a:prstGeom prst="roundRect">
            <a:avLst>
              <a:gd fmla="val 519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934200" y="1447800"/>
            <a:ext cx="4648200" cy="2428875"/>
          </a:xfrm>
          <a:prstGeom prst="roundRect">
            <a:avLst>
              <a:gd fmla="val 470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24050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9782175" y="419100"/>
            <a:ext cx="22502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DEC-E2-04 · DEC-E2-01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09600" y="428625"/>
            <a:ext cx="7846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1 · ARQUITECTURA FUNCIONAL Y METODOLOGÍA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09600" y="657225"/>
            <a:ext cx="823852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 Conectado F5 → F4 y Selección SDD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57250" y="1809750"/>
            <a:ext cx="5450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rPr>
              <a:t>F5: Gestión de Umbrales (Productor)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524500" y="2747962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Versión Vigente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181850" y="1695450"/>
            <a:ext cx="50101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F4: Puntaje y Decisión (Consumidor)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76300" y="5448300"/>
            <a:ext cx="66508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Space Grotesk"/>
                <a:ea typeface="Space Grotesk"/>
                <a:cs typeface="Space Grotesk"/>
                <a:sym typeface="Space Grotesk"/>
              </a:rPr>
              <a:t>Método: Opción A — SDD (</a:t>
            </a:r>
            <a:r>
              <a:rPr b="1" i="0" lang="en-US" sz="1350" u="none" cap="none" strike="noStrike">
                <a:solidFill>
                  <a:srgbClr val="92400E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DEC-E2-01</a:t>
            </a:r>
            <a:r>
              <a:rPr b="1" i="0" lang="en-US" sz="1500" u="none" cap="none" strike="noStrike">
                <a:solidFill>
                  <a:srgbClr val="92400E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76300" y="5753100"/>
            <a:ext cx="5162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350F"/>
                </a:solidFill>
                <a:latin typeface="DM Sans"/>
                <a:ea typeface="DM Sans"/>
                <a:cs typeface="DM Sans"/>
                <a:sym typeface="DM Sans"/>
              </a:rPr>
              <a:t>Spec Kit CLI </a:t>
            </a:r>
            <a:r>
              <a:rPr b="0" i="0" lang="en-US" sz="1214" u="none" cap="none" strike="noStrike">
                <a:solidFill>
                  <a:srgbClr val="78350F"/>
                </a:solidFill>
                <a:latin typeface="DM Sans"/>
                <a:ea typeface="DM Sans"/>
                <a:cs typeface="DM Sans"/>
                <a:sym typeface="DM Sans"/>
              </a:rPr>
              <a:t>v1.0.2.dev0</a:t>
            </a:r>
            <a:r>
              <a:rPr b="0" i="0" lang="en-US" sz="1350" u="none" cap="none" strike="noStrike">
                <a:solidFill>
                  <a:srgbClr val="78350F"/>
                </a:solidFill>
                <a:latin typeface="DM Sans"/>
                <a:ea typeface="DM Sans"/>
                <a:cs typeface="DM Sans"/>
                <a:sym typeface="DM Sans"/>
              </a:rPr>
              <a:t> sobre Antigravity: aprovecha insumos </a:t>
            </a:r>
            <a:r>
              <a:rPr b="0" i="1" lang="en-US" sz="1350" u="none" cap="none" strike="noStrike">
                <a:solidFill>
                  <a:srgbClr val="78350F"/>
                </a:solidFill>
                <a:latin typeface="DM Sans"/>
                <a:ea typeface="DM Sans"/>
                <a:cs typeface="DM Sans"/>
                <a:sym typeface="DM Sans"/>
              </a:rPr>
              <a:t>spec-first</a:t>
            </a:r>
            <a:r>
              <a:rPr b="0" i="0" lang="en-US" sz="1350" u="none" cap="none" strike="noStrike">
                <a:solidFill>
                  <a:srgbClr val="78350F"/>
                </a:solidFill>
                <a:latin typeface="DM Sans"/>
                <a:ea typeface="DM Sans"/>
                <a:cs typeface="DM Sans"/>
                <a:sym typeface="DM Sans"/>
              </a:rPr>
              <a:t> de E1 sin sobrecarga multi-rol BMAD.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248400" y="5448300"/>
            <a:ext cx="5943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Regla de Oro Humano-Agente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248400" y="5753100"/>
            <a:ext cx="5162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8350F"/>
                </a:solidFill>
                <a:latin typeface="DM Sans"/>
                <a:ea typeface="DM Sans"/>
                <a:cs typeface="DM Sans"/>
                <a:sym typeface="DM Sans"/>
              </a:rPr>
              <a:t>El agente propone y redacta; el ingeniero humano revisa, corrige y decide la arquitectura.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90600" y="215265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47750" y="2181225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Versionado: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Trazabilidad inmutable de reglas.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90600" y="247650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047750" y="2505075"/>
            <a:ext cx="4057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Parámetros: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Umbrales, pesos y mínimos por señal.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90600" y="302895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047750" y="3057525"/>
            <a:ext cx="4057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Gobernanza: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Aprobación mediante doble control.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7315200" y="203835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372350" y="2066925"/>
            <a:ext cx="4057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Cálculo: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Ejecución determinista del puntaje global.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315200" y="259080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372350" y="2619375"/>
            <a:ext cx="4057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Decisión: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Emite veredicto con versión aprobada en F5.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7315200" y="314325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7372350" y="3171825"/>
            <a:ext cx="4057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Alcance: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Resuelve 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H-05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H-01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DEC-01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(≥ 90); evita 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F4+F1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RQF-013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excluido en E1).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609600" y="2638425"/>
            <a:ext cx="3619500" cy="3076575"/>
          </a:xfrm>
          <a:prstGeom prst="roundRect">
            <a:avLst>
              <a:gd fmla="val 37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4457700" y="2638425"/>
            <a:ext cx="3448050" cy="3076575"/>
          </a:xfrm>
          <a:prstGeom prst="roundRect">
            <a:avLst>
              <a:gd fmla="val 37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134350" y="2638425"/>
            <a:ext cx="3448050" cy="3076575"/>
          </a:xfrm>
          <a:prstGeom prst="roundRect">
            <a:avLst>
              <a:gd fmla="val 37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10125075" y="419100"/>
            <a:ext cx="18216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Spec Kit Pipeline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09600" y="428625"/>
            <a:ext cx="1037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2 · APLICACIÓN DEL MÉTODO Y ARTEFACTOS (3 MIN)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09600" y="657225"/>
            <a:ext cx="1088886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Flujo SDD: Fases 0 a 2 (Gobernanza y Especificación)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38200" y="2867025"/>
            <a:ext cx="3952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0 · /speckit-constitution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38200" y="3095625"/>
            <a:ext cx="41505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Constitución </a:t>
            </a:r>
            <a:r>
              <a:rPr b="1" i="0" lang="en-US" sz="1417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v1.0.0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686300" y="2867025"/>
            <a:ext cx="3738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1 · /speckit-specify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4686300" y="3095625"/>
            <a:ext cx="392549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Spec Consolidada F5+F4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8362950" y="2867025"/>
            <a:ext cx="3738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FASE 2 · /speckit-clarify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362950" y="3095625"/>
            <a:ext cx="3829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Aclaración con Cliente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952500" y="34385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09650" y="3467100"/>
            <a:ext cx="308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Ruta: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.specify/memory/constitution.md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952500" y="39909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009650" y="4019550"/>
            <a:ext cx="308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Reglas: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Integra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DEC-01..16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E2-06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E2-10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 protege E1 en solo lectura; prohíbe mocks y tests circulares.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952500" y="47720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009650" y="4800600"/>
            <a:ext cx="308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Principio: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Nunca rechaza automáticamente; deriva con alerta de riesgo alto.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4800600" y="34385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4857750" y="3467100"/>
            <a:ext cx="2914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Ruta: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specs/001-f5-f4-umbrales-evaluacion/spec.md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4800600" y="39909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857750" y="4019550"/>
            <a:ext cx="2914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Criterios: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DEC-E2-10(c)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/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D-09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AC-1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AC-6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aprobación ≥ 90 (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DEC-01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 y riesgo alto en 60.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800600" y="47720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4857750" y="4800600"/>
            <a:ext cx="2914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Citación: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Fuente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RQF-xxx [fase5-lester]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+ PDF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RQF-Bxx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DEC-E2-02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477250" y="34385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534400" y="3467100"/>
            <a:ext cx="2914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Artefacto: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clarificaciones.md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spec.md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libre de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[NEEDS CLARIFICATION]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477250" y="42195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8534400" y="4248150"/>
            <a:ext cx="2914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Rol Cliente: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Rodrigo Guerrero bajo protocolo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DEC-E2-03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477250" y="47720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534400" y="4800600"/>
            <a:ext cx="29146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Ratificación: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 señales (pesos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0,40/0,40/0,20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; mín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70/70/60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), 5 identidades y </a:t>
            </a:r>
            <a:r>
              <a:rPr b="0" i="0" lang="en-US" sz="1214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90 &gt; 60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/>
          <p:nvPr/>
        </p:nvSpPr>
        <p:spPr>
          <a:xfrm>
            <a:off x="609600" y="5410200"/>
            <a:ext cx="10972800" cy="10287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17"/>
          <p:cNvGraphicFramePr/>
          <p:nvPr/>
        </p:nvGraphicFramePr>
        <p:xfrm>
          <a:off x="609600" y="140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{7E0489AF-0DCD-4CC1-88C1-841C1C02BF15}</a:tableStyleId>
              </a:tblPr>
              <a:tblGrid>
                <a:gridCol w="2153400"/>
                <a:gridCol w="3825775"/>
                <a:gridCol w="4993625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Fase y Comando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Artefactos Generados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E3A8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Hitos Técnicos y Decisiones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Fase 3 · /speckit-plan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plan.md, data-model.md, research.md, types.ts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Contrato en PR #16; Node v20+/TS, React 18/Vite, SQLite triggers D-01/D-05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Fase 4 · /speckit-tasks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tasks.md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Tareas atómicas (&lt; 2h) etiquetadas [F5] / [F4] vinculadas a RQF-xxx y AC-N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Fase 5 · /speckit-analyze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reporte-analisis-consistencia.md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Verificación cruzada con 0 inconsistencias críticas detectadas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Fase 6 · /speckit-implement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src/, tests/, matriz-trazabilidad.md, log-prompts.md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Fixes humanos: 86c0bad (estado BD &gt; 1) y d63b5e8 (tsconfig / cookies 0 errores)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7"/>
          <p:cNvSpPr txBox="1"/>
          <p:nvPr/>
        </p:nvSpPr>
        <p:spPr>
          <a:xfrm>
            <a:off x="10039350" y="419100"/>
            <a:ext cx="1928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DEC-E2-05 · PR #16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609600" y="428625"/>
            <a:ext cx="74652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2 · PLANIFICACIÓN, CONSISTENCIA E IMPLEMENTACIÓN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609600" y="657225"/>
            <a:ext cx="7838479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Flujo SDD: Fases 3 a 6 y Ejecución TDD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984200" y="5581650"/>
            <a:ext cx="3429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rPr>
              <a:t>23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984200" y="60388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Tareas Backend TDD (</a:t>
            </a:r>
            <a:r>
              <a:rPr b="0" i="0" lang="en-US" sz="1214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[TASK-xxx]</a:t>
            </a: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724251" y="5581650"/>
            <a:ext cx="323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59669"/>
                </a:solidFill>
                <a:latin typeface="Space Grotesk"/>
                <a:ea typeface="Space Grotesk"/>
                <a:cs typeface="Space Grotesk"/>
                <a:sym typeface="Space Grotesk"/>
              </a:rPr>
              <a:t>51 / 51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4724251" y="6038850"/>
            <a:ext cx="3238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Pruebas Vitest al 100% (8 suites)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8335714" y="5581650"/>
            <a:ext cx="2809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8335714" y="6038850"/>
            <a:ext cx="2809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Intervenciones </a:t>
            </a:r>
            <a:r>
              <a:rPr b="0" i="0" lang="en-US" sz="1214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[HUMAN-FIX]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5715000" y="3467100"/>
            <a:ext cx="762000" cy="476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3426023" y="2247900"/>
            <a:ext cx="533995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3 · DEMOSTRACIÓN EN VIVO (4 MIN)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332779" y="2600325"/>
            <a:ext cx="11526440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Presentación en Vivo del Proyecto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1452562" y="3781425"/>
            <a:ext cx="928687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Flujo integrado en tiempo real: Configuración y aprobación con doble control en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F5 (Productor)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hacia evaluación determinista de reembolsos en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F4 (Consumidor)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/>
          <p:nvPr/>
        </p:nvSpPr>
        <p:spPr>
          <a:xfrm>
            <a:off x="609600" y="2419350"/>
            <a:ext cx="5314950" cy="3048000"/>
          </a:xfrm>
          <a:prstGeom prst="roundRect">
            <a:avLst>
              <a:gd fmla="val 375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6267450" y="2419350"/>
            <a:ext cx="5314950" cy="3048000"/>
          </a:xfrm>
          <a:prstGeom prst="roundRect">
            <a:avLst>
              <a:gd fmla="val 375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9096375" y="419100"/>
            <a:ext cx="3095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DEC-E2-02 · Criterio C6 (30%)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09600" y="428625"/>
            <a:ext cx="809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4 · COMPARATIVA CON LA ENTREGA 1 (5 MIN)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09600" y="657225"/>
            <a:ext cx="850106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Gestión de Divergencias y Colisión de IDs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876300" y="2686050"/>
            <a:ext cx="627578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Problema Detectado en Entrega 1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534150" y="2686050"/>
            <a:ext cx="5657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5F46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Solución Canónica en Entrega 2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009650" y="30765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066800" y="3105150"/>
            <a:ext cx="46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Colisión en Fase 5: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final-final.md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(81 reqs) y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fase5-lester/requisitos_formato_final.md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(57 reqs).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009650" y="38957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066800" y="3924300"/>
            <a:ext cx="468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IDs en Conflicto: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RQF-020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RQF-023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RQF-039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RQF-040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RQF-041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RQNF-002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representaban conceptos distintos.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009650" y="44862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066800" y="4514850"/>
            <a:ext cx="46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Mezcla en Informe PDF: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Consolidó 49 requisitos (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RQF-B01..B36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RQNF-B01..B13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, págs. 9–12), pero citó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RQF-023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en </a:t>
            </a:r>
            <a:r>
              <a:rPr b="0" i="0" lang="en-US" sz="1214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PF-018</a:t>
            </a:r>
            <a:r>
              <a:rPr b="0" i="0" lang="en-US" sz="1350" u="none" cap="none" strike="noStrike">
                <a:solidFill>
                  <a:srgbClr val="7F1D1D"/>
                </a:solidFill>
                <a:latin typeface="DM Sans"/>
                <a:ea typeface="DM Sans"/>
                <a:cs typeface="DM Sans"/>
                <a:sym typeface="DM Sans"/>
              </a:rPr>
              <a:t> (pág. 13).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667500" y="30765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724650" y="3105150"/>
            <a:ext cx="46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Numeración Rectora: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Se adopta 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fase5-lester/requisitos_formato_final.md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por alineación directa con 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fase6/pruebas-funcionales.md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6667500" y="38957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724650" y="3924300"/>
            <a:ext cx="468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Doble Citación Obligatoria: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Todo requisito en 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spec.md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matriz-trazabilidad.md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e informe cita su archivo fuente + código 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RQF-Bxx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del PDF.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667500" y="47148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724650" y="4743450"/>
            <a:ext cx="468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Respaldo: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Mapeo completo en 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docs/entregable2/equivalencias-requisitos.md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609600" y="5638800"/>
            <a:ext cx="10972800" cy="800100"/>
          </a:xfrm>
          <a:prstGeom prst="roundRect">
            <a:avLst>
              <a:gd fmla="val 11904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20"/>
          <p:cNvGraphicFramePr/>
          <p:nvPr/>
        </p:nvGraphicFramePr>
        <p:xfrm>
          <a:off x="609600" y="140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{7E0489AF-0DCD-4CC1-88C1-841C1C02BF15}</a:tableStyleId>
              </a:tblPr>
              <a:tblGrid>
                <a:gridCol w="2039850"/>
                <a:gridCol w="3556700"/>
                <a:gridCol w="5376275"/>
              </a:tblGrid>
              <a:tr h="9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Ámbito y Códigos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Estado en Entrega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Evolución en Entrega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9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Sin Rechazo Automático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RQF-B12 / RQF-020 / 041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Rechazo automático bajo 60 pts o fraude ignorando puntaje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Salidas APROBADO_AUTOMATICO o DERIVADO_REVISION (ENT6, H-08, DEC-08, E2-06)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Umbral Configurable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RQF-B10..11 / RQF-040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Duda abierta 85 vs 80 en UC-01; fijo en 85 en PDF (rango 60–84)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Por defecto ≥ 90 pts configurable en F5 (DEC-01, H-01, ENT4); rango 60–89,9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5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Cierre H-05 y Doble Control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RQF-039 / PF-033 / D-04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Mínimos por señal pendientes y dispersión en flujo de aprobación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 señales en /speckit-clarify (ENT3); Diseñador (BORRADOR) ≠ Admin (APROBADO / DESESTIMADO)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0" name="Google Shape;240;p20"/>
          <p:cNvSpPr txBox="1"/>
          <p:nvPr/>
        </p:nvSpPr>
        <p:spPr>
          <a:xfrm>
            <a:off x="10810875" y="419100"/>
            <a:ext cx="1057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DEC-E2-08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609600" y="428625"/>
            <a:ext cx="9108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4 · TABLAS 6.6-A Y 6.6-B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609600" y="657225"/>
            <a:ext cx="956369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Evolución de Requisitos y Hallazgos (E1 vs. E2)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38200" y="5810250"/>
            <a:ext cx="1061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Rol Matemático del 60:</a:t>
            </a:r>
            <a:r>
              <a:rPr b="0" i="0" lang="en-US" sz="13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Con mínimos 70/70/60 y pesos 0,40/0,40/0,20, el puntaje mínimo cumpliendo umbrales es </a:t>
            </a:r>
            <a:r>
              <a:rPr b="1" i="0" lang="en-US" sz="13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68</a:t>
            </a:r>
            <a:r>
              <a:rPr b="0" i="0" lang="en-US" sz="13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(28+28+12). Todo puntaje &lt; 60 tiene señal bajo mínimo y activa </a:t>
            </a:r>
            <a:r>
              <a:rPr b="0" i="0" lang="en-US" sz="1214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riesgoAltoRechazo: true</a:t>
            </a:r>
            <a:r>
              <a:rPr b="0" i="0" lang="en-US" sz="1350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/>
          <p:nvPr/>
        </p:nvSpPr>
        <p:spPr>
          <a:xfrm>
            <a:off x="609600" y="2913161"/>
            <a:ext cx="3505200" cy="2060227"/>
          </a:xfrm>
          <a:prstGeom prst="roundRect">
            <a:avLst>
              <a:gd fmla="val 554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343400" y="2898874"/>
            <a:ext cx="3505200" cy="2088802"/>
          </a:xfrm>
          <a:prstGeom prst="roundRect">
            <a:avLst>
              <a:gd fmla="val 547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8077200" y="3027461"/>
            <a:ext cx="3505200" cy="1831627"/>
          </a:xfrm>
          <a:prstGeom prst="roundRect">
            <a:avLst>
              <a:gd fmla="val 624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4357836"/>
            <a:ext cx="2087314" cy="196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4314973"/>
            <a:ext cx="2180034" cy="253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96300" y="4214961"/>
            <a:ext cx="1508968" cy="22502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10810875" y="419100"/>
            <a:ext cx="1057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DEC-E2-08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09600" y="428625"/>
            <a:ext cx="7739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4 · MÉTRICAS DE TRAZABILIDAD Y PROCESO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09600" y="657225"/>
            <a:ext cx="812601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Indicadores Cuantitativos de Evolución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876300" y="3179861"/>
            <a:ext cx="39004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rPr>
              <a:t>TPR (Preservación Must)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876300" y="3522761"/>
            <a:ext cx="3067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4 de 8 Must sin cambio (base E1).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4610100" y="3165574"/>
            <a:ext cx="39004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97706"/>
                </a:solidFill>
                <a:latin typeface="Space Grotesk"/>
                <a:ea typeface="Space Grotesk"/>
                <a:cs typeface="Space Grotesk"/>
                <a:sym typeface="Space Grotesk"/>
              </a:rPr>
              <a:t>TIH (Intervención Humana)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4610100" y="3508474"/>
            <a:ext cx="3067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22 de 39 commits de tarea con fix humano.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343900" y="3294161"/>
            <a:ext cx="384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59669"/>
                </a:solidFill>
                <a:latin typeface="Space Grotesk"/>
                <a:ea typeface="Space Grotesk"/>
                <a:cs typeface="Space Grotesk"/>
                <a:sym typeface="Space Grotesk"/>
              </a:rPr>
              <a:t>IRF (Retrabajo por Fase)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343900" y="3637061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100% en 5 fases; ≥13,5% en implementación.</a:t>
            </a:r>
            <a:endParaRPr/>
          </a:p>
        </p:txBody>
      </p:sp>
      <p:pic>
        <p:nvPicPr>
          <p:cNvPr id="266" name="Picture 265" descr="tpr_va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4170461"/>
            <a:ext cx="2971800" cy="536227"/>
          </a:xfrm>
          <a:prstGeom prst="rect">
            <a:avLst/>
          </a:prstGeom>
        </p:spPr>
      </p:pic>
      <p:pic>
        <p:nvPicPr>
          <p:cNvPr id="267" name="Picture 266" descr="tih_va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4156174"/>
            <a:ext cx="2971800" cy="564802"/>
          </a:xfrm>
          <a:prstGeom prst="rect">
            <a:avLst/>
          </a:prstGeom>
        </p:spPr>
      </p:pic>
      <p:pic>
        <p:nvPicPr>
          <p:cNvPr id="268" name="Picture 267" descr="irf_va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4056161"/>
            <a:ext cx="2971800" cy="5362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/>
          <p:nvPr/>
        </p:nvSpPr>
        <p:spPr>
          <a:xfrm>
            <a:off x="609600" y="2566987"/>
            <a:ext cx="5314950" cy="2752725"/>
          </a:xfrm>
          <a:prstGeom prst="roundRect">
            <a:avLst>
              <a:gd fmla="val 4152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6267450" y="2328862"/>
            <a:ext cx="5314950" cy="3228975"/>
          </a:xfrm>
          <a:prstGeom prst="roundRect">
            <a:avLst>
              <a:gd fmla="val 353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10210800" y="4191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DEC-E2-01 · §6.7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09600" y="428625"/>
            <a:ext cx="7762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5 · CIERRE Y REFLEXIÓN METODOLÓGICA (1 MIN)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09600" y="657225"/>
            <a:ext cx="815101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Contraste Metodológico: SDD vs. BMAD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914400" y="2871787"/>
            <a:ext cx="617577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Flujo SDD Adoptado (Spec Kit)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6572250" y="2633662"/>
            <a:ext cx="5619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Escenario Alternativo con BMAD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038225" y="3290887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1104900" y="3319462"/>
            <a:ext cx="461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Trazabilidad Lineal: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Transformación directa de specs E1 en contratos TypeScript, tareas y tests.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1038225" y="3900487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104900" y="3929062"/>
            <a:ext cx="461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Compuertas Secuenciales: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Control estricto entre constitución, especificación, aclaración y código.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38225" y="4510087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104900" y="4538662"/>
            <a:ext cx="461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Eficiencia Operativa: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Cero sobrecarga de orquestación conversacional entre múltiples agentes.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6696075" y="3052762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6762750" y="3081337"/>
            <a:ext cx="46101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5 Roles de Agentes: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Mary/Analyst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John/PM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Winston/Architect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Amelia/Dev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Sally/UX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6696075" y="3662362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762750" y="3690937"/>
            <a:ext cx="46101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Ceremonias de Control: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Veredictos </a:t>
            </a:r>
            <a:r>
              <a:rPr b="0" i="1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PASS/CONCERNS/FAIL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bmad-sprint-planning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y checkpoints en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bmad-build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6696075" y="4510087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6762750" y="4538662"/>
            <a:ext cx="46101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Simulación Multi-Actor: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Uso de </a:t>
            </a:r>
            <a:r>
              <a:rPr b="0" i="0" lang="en-US" sz="1282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bmad-party-mode</a:t>
            </a:r>
            <a:r>
              <a:rPr b="0" i="0" lang="en-US" sz="142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para conciliar tensiones (Daniela, Valentina, Hugo, Sebastián) con mayor costo de prompts.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609600" y="1447800"/>
            <a:ext cx="10972800" cy="1362075"/>
          </a:xfrm>
          <a:prstGeom prst="roundRect">
            <a:avLst>
              <a:gd fmla="val 8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609600" y="4772025"/>
            <a:ext cx="10972800" cy="1666875"/>
          </a:xfrm>
          <a:prstGeom prst="roundRect">
            <a:avLst>
              <a:gd fmla="val 6857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10296525" y="419100"/>
            <a:ext cx="160734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596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 Verificado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09600" y="428625"/>
            <a:ext cx="11370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BLOQUE 5 · LECCIONES APRENDIDAS Y CIERRE DE CALIDAD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09600" y="657225"/>
            <a:ext cx="115824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Gobernanza Humana y Definición de Terminado (DoD §8.2)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876300" y="1676400"/>
            <a:ext cx="11315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D4ED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Impacto de las Compuertas Humanas (Plan Técnico y Diff)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876300" y="5000625"/>
            <a:ext cx="11315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65F46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Checklist de Definición de Terminado (DoD §8.2)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1009650" y="201930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066800" y="2047875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Prevención de Riesgos IA: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Bloqueo efectivo de tests circulares (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R-01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 y requisitos inventados (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R-02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1009650" y="2324100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1066800" y="2352675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Filtro de Diseño: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Descarte del rechazo en un clic (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ENT6 [00:01:21]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 y mitigación de sesgo de anclaje (</a:t>
            </a:r>
            <a:r>
              <a:rPr b="0" i="0" lang="en-US" sz="1214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ENT5 [00:15:16]</a:t>
            </a:r>
            <a:r>
              <a:rPr b="0" i="0" lang="en-US" sz="135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1009650" y="53435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066800" y="5372100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Despliegue Ágil: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Repositorio levantable en &lt; 15 min con SQLite (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DEC-E2-05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1009650" y="56483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1066800" y="5676900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Calidad y Determinismo: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51 tests en Vitest + E2E Playwright + 100% reproducibilidad determinista (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H-14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1009650" y="59531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1066800" y="5981700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Validación y Auditoría: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 Prueba de usabilidad externa (SC-005 no cumplido), acta con cliente (Aceptado con observaciones) y tag </a:t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r>
              <a:rPr b="0" i="0" lang="en-US" sz="1214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v2.0</a:t>
            </a:r>
            <a:r>
              <a:rPr b="0" i="0" lang="en-US" sz="1350" u="none" cap="none" strike="noStrike">
                <a:solidFill>
                  <a:srgbClr val="064E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4"/>
          <p:cNvSpPr/>
          <p:nvPr/>
        </p:nvSpPr>
        <p:spPr>
          <a:xfrm>
            <a:off x="5791200" y="4205287"/>
            <a:ext cx="609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3774281" y="2128837"/>
            <a:ext cx="46434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DPRIME SpA · GRUPO 4 · RELEASE TAG v2.0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1045368" y="2481262"/>
            <a:ext cx="10101262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MIRA — Entrega 2 Completada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1809750" y="3348037"/>
            <a:ext cx="8572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Gobernanza SDD, trazabilidad de extremo a extremo y evaluación determinista F5 → F4.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1774031" y="4510087"/>
            <a:ext cx="8643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Rodrigo Guerrero · Jorge Alvarez · Lester González · Angel Salgado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